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2a302de14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2a302de14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a302de14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c2a302de14_0_1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2a302de14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2a302de14_0_30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a302de14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c2a302de14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2a302de14_0_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2a302de14_0_3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2a302de14_0_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2a302de14_0_4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2a302de14_0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2a302de14_0_5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2a302de14_0_5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2a302de14_0_5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2a302de14_0_6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2a302de14_0_6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894846" y="1769078"/>
            <a:ext cx="7437816" cy="2727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98884" y="4773623"/>
            <a:ext cx="6733778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r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al Title">
  <p:cSld name="Transitional 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894846" y="1769078"/>
            <a:ext cx="7437816" cy="2727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598884" y="4773623"/>
            <a:ext cx="6733778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r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09033" y="1058239"/>
            <a:ext cx="7740650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09033" y="1855886"/>
            <a:ext cx="7734300" cy="458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Merriweather Sans"/>
              <a:buChar char="-"/>
              <a:def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Object">
  <p:cSld name="Double 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8650" y="1929440"/>
            <a:ext cx="38671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628650" y="1071686"/>
            <a:ext cx="7913397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674897" y="1928888"/>
            <a:ext cx="38671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 Slide">
  <p:cSld name="Pull Quot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6911975"/>
          </a:xfrm>
          <a:prstGeom prst="rect">
            <a:avLst/>
          </a:prstGeom>
          <a:solidFill>
            <a:srgbClr val="B043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043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nockout_formal_Cockrell.eps" id="30" name="Google Shape;3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16088" y="2552700"/>
            <a:ext cx="8143875" cy="2960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-6349"/>
            <a:ext cx="9144000" cy="655225"/>
          </a:xfrm>
          <a:prstGeom prst="rect">
            <a:avLst/>
          </a:prstGeom>
          <a:solidFill>
            <a:srgbClr val="B043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7258" y="83392"/>
            <a:ext cx="2514943" cy="5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3205467" y="57178"/>
            <a:ext cx="46612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A.I. 2026 Hackathon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/>
        </p:nvSpPr>
        <p:spPr>
          <a:xfrm>
            <a:off x="24940" y="1674673"/>
            <a:ext cx="90858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Project Final Presentation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February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1st, 2026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JARVIS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Aditya Patra, Asteya Laxmanan, Jason Panoff, Rithvik Pandey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Cockrell School of Engineering/College of Natural Sciences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368546" y="1317000"/>
            <a:ext cx="8453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50" lIns="93925" spcFirstLastPara="1" rIns="93925" wrap="square" tIns="46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76"/>
              <a:buFont typeface="Calibri"/>
              <a:buNone/>
            </a:pPr>
            <a:r>
              <a:rPr b="1" i="0" lang="en-US" sz="2876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227650" y="1936944"/>
            <a:ext cx="4227000" cy="1784700"/>
          </a:xfrm>
          <a:prstGeom prst="rect">
            <a:avLst/>
          </a:prstGeom>
          <a:solidFill>
            <a:srgbClr val="F5F2EE"/>
          </a:solidFill>
          <a:ln cap="flat" cmpd="sng" w="977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227650" y="1936944"/>
            <a:ext cx="65700" cy="1784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415511" y="2049661"/>
            <a:ext cx="3898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35"/>
              <a:buFont typeface="Calibri"/>
              <a:buNone/>
            </a:pPr>
            <a:r>
              <a:rPr b="1" i="0" lang="en-US" sz="1335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1. The Problem</a:t>
            </a:r>
            <a:endParaRPr b="0" i="0" sz="13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415511" y="2312667"/>
            <a:ext cx="38982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b="0" i="0" lang="en-US" sz="11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Predict 3-year cumulative oil production for 12 undrilled wells using only pre-production geology logs from 71 producing wells.</a:t>
            </a:r>
            <a:endParaRPr b="0" i="0" sz="11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4689351" y="1936944"/>
            <a:ext cx="4227000" cy="1784700"/>
          </a:xfrm>
          <a:prstGeom prst="rect">
            <a:avLst/>
          </a:prstGeom>
          <a:solidFill>
            <a:srgbClr val="F5F2EE"/>
          </a:solidFill>
          <a:ln cap="flat" cmpd="sng" w="977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4689351" y="1936944"/>
            <a:ext cx="65700" cy="1784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4877212" y="2049661"/>
            <a:ext cx="3898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35"/>
              <a:buFont typeface="Calibri"/>
              <a:buNone/>
            </a:pPr>
            <a:r>
              <a:rPr b="1" i="0" lang="en-US" sz="1335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2. Our Approach</a:t>
            </a:r>
            <a:endParaRPr b="0" i="0" sz="13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4877199" y="2312675"/>
            <a:ext cx="40392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engineered features (geology stats, rock-physics ratios, spatial kNN). </a:t>
            </a:r>
            <a:endParaRPr b="0" i="0" sz="1078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Focused on creating a s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tability-weighted ensemble of models. </a:t>
            </a: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Take the mean: 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BayesRidge 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 ExtraTrees + </a:t>
            </a: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log1p target transform. </a:t>
            </a:r>
            <a:endParaRPr b="0" i="0" sz="1078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Next came hyperparameter tuning.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Finally, </a:t>
            </a: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100 heteroscedastic bootstrap realizations for uncertainty.</a:t>
            </a:r>
            <a:endParaRPr b="0" i="0" sz="10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227650" y="4003424"/>
            <a:ext cx="4227000" cy="1784700"/>
          </a:xfrm>
          <a:prstGeom prst="rect">
            <a:avLst/>
          </a:prstGeom>
          <a:solidFill>
            <a:srgbClr val="F5F2EE"/>
          </a:solidFill>
          <a:ln cap="flat" cmpd="sng" w="977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227650" y="4003424"/>
            <a:ext cx="65700" cy="1784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415511" y="4116141"/>
            <a:ext cx="3898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35"/>
              <a:buFont typeface="Calibri"/>
              <a:buNone/>
            </a:pPr>
            <a:r>
              <a:rPr b="1" i="0" lang="en-US" sz="1335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3. Key Learning</a:t>
            </a:r>
            <a:endParaRPr b="0" i="0" sz="13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415511" y="4379148"/>
            <a:ext cx="38982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kNN features (geology-only, zero leakage) were the strongest signal. </a:t>
            </a:r>
            <a:endParaRPr b="0" i="0" sz="1078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Deep learning models were ineffective due to the lack of high data amounts.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 this kind of problem, stable, more comprehensible solutions were far more effective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4689351" y="4003424"/>
            <a:ext cx="4227000" cy="1784700"/>
          </a:xfrm>
          <a:prstGeom prst="rect">
            <a:avLst/>
          </a:prstGeom>
          <a:solidFill>
            <a:srgbClr val="F5F2EE"/>
          </a:solidFill>
          <a:ln cap="flat" cmpd="sng" w="977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4689351" y="4003424"/>
            <a:ext cx="65700" cy="1784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4877212" y="4116141"/>
            <a:ext cx="3898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35"/>
              <a:buFont typeface="Calibri"/>
              <a:buNone/>
            </a:pPr>
            <a:r>
              <a:rPr b="1" i="0" lang="en-US" sz="1335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4. Recommendation</a:t>
            </a:r>
            <a:endParaRPr b="0" i="0" sz="13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4877212" y="4379148"/>
            <a:ext cx="38982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autocorrelation dominates. </a:t>
            </a:r>
            <a:endParaRPr b="0" i="0" sz="1078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b="0" i="0" lang="en-US" sz="1078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Seek the possibility to drop out unnecessary or noisy data to allow the more important features to be more deterministic.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Multiple model ensemble decreases variance/increases the precision.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t/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79"/>
              <a:buFont typeface="Calibri"/>
              <a:buNone/>
            </a:pPr>
            <a:r>
              <a:rPr lang="en-US" sz="1078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Aim to not allow data leakage, always allow some testing data.</a:t>
            </a:r>
            <a:endParaRPr sz="1078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457175" y="1348683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355610" y="2624304"/>
            <a:ext cx="530400" cy="530400"/>
          </a:xfrm>
          <a:prstGeom prst="ellipse">
            <a:avLst/>
          </a:prstGeom>
          <a:solidFill>
            <a:srgbClr val="F5F2EE"/>
          </a:solidFill>
          <a:ln cap="flat" cmpd="sng" w="127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355610" y="2624304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1013978" y="2624304"/>
            <a:ext cx="3246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Well-Level Ratios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/>
          <p:nvPr/>
        </p:nvSpPr>
        <p:spPr>
          <a:xfrm>
            <a:off x="1013978" y="2843760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8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Vp/Vs and AI/SI ratios computed from aggregated means.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355610" y="3328392"/>
            <a:ext cx="530400" cy="530400"/>
          </a:xfrm>
          <a:prstGeom prst="ellipse">
            <a:avLst/>
          </a:prstGeom>
          <a:solidFill>
            <a:srgbClr val="F5F2EE"/>
          </a:solidFill>
          <a:ln cap="flat" cmpd="sng" w="127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355610" y="3328392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1013978" y="3328392"/>
            <a:ext cx="3246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&amp; Structural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1013978" y="3547848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8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X, Y, Z_min, Z_max, gross thickness, sand map value, sand map 3×3 neighborhood mean.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355610" y="4032480"/>
            <a:ext cx="530400" cy="530400"/>
          </a:xfrm>
          <a:prstGeom prst="ellipse">
            <a:avLst/>
          </a:prstGeom>
          <a:solidFill>
            <a:srgbClr val="F5F2EE"/>
          </a:solidFill>
          <a:ln cap="flat" cmpd="sng" w="127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355610" y="403248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013978" y="4032480"/>
            <a:ext cx="3246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Facies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013978" y="4251936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8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Proportion per facies type (15 types), dominant proportion, facies mode, Shannon entropy.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355610" y="4736568"/>
            <a:ext cx="530400" cy="530400"/>
          </a:xfrm>
          <a:prstGeom prst="ellipse">
            <a:avLst/>
          </a:prstGeom>
          <a:solidFill>
            <a:srgbClr val="BF5700"/>
          </a:solidFill>
          <a:ln cap="flat" cmpd="sng" w="127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355610" y="4736568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1013978" y="4736568"/>
            <a:ext cx="3246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kNN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1013978" y="4956024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8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Mean &amp; std of 15 geology columns across 5 nearest wells by (X,Y). Plus 3 distance stats. Geology only — zero leakage.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4800575" y="1897323"/>
            <a:ext cx="3977700" cy="14172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4800575" y="1970475"/>
            <a:ext cx="3977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Features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4800575" y="2839155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Determined through weighted mean average of all features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800575" y="3497523"/>
            <a:ext cx="3977700" cy="20118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>
            <a:off x="4800575" y="3497523"/>
            <a:ext cx="63900" cy="2011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4983455" y="3561531"/>
            <a:ext cx="3639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Why Spatial kNN Works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983455" y="3826707"/>
            <a:ext cx="3639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Nearby wells share the same reservoir and geology. kNN features capture that local context using only log measurements from neighbors — never production. Zero leakage by construction, but adds the strongest predictive signal in the dataset.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4983455" y="4896555"/>
            <a:ext cx="36393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5047463" y="4923987"/>
            <a:ext cx="3511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80"/>
              <a:buFont typeface="Calibri"/>
              <a:buNone/>
            </a:pPr>
            <a:r>
              <a:rPr b="0" i="1" lang="en-US" sz="98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Sand map ablation: removing sand map features raised RMSE from 2.79M → 3.10M (+11%)</a:t>
            </a:r>
            <a:endParaRPr b="0" i="0" sz="9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-1639975" y="1815008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Features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457225" y="1610133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Target Engineering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365785" y="2213637"/>
            <a:ext cx="4114800" cy="14631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365785" y="2213637"/>
            <a:ext cx="63900" cy="1463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548665" y="2277645"/>
            <a:ext cx="380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What We're Predicting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548665" y="2597685"/>
            <a:ext cx="3804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3-year cumulative oil production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Fixed calendar window: Dec 2022 → Nov 2025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This is the last 36 months available in the dataset. All 71 training wells measured over the exact same period.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365785" y="3859557"/>
            <a:ext cx="4114800" cy="14631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365785" y="3859557"/>
            <a:ext cx="63900" cy="1463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548665" y="3923565"/>
            <a:ext cx="380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How We Compute 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548665" y="4243605"/>
            <a:ext cx="3804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Target = Cum. Oil at Nov 2025  −  Cum. Oil at Dec 2022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If a well hasn't started producing by Dec 2022, start value = 0.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If a well is missing Nov 2025, use the last available cumulative value.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754905" y="2213637"/>
            <a:ext cx="4023300" cy="10059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5344723" y="2195288"/>
            <a:ext cx="2898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 Months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4754905" y="3402357"/>
            <a:ext cx="4023300" cy="14172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4754905" y="3402357"/>
            <a:ext cx="63900" cy="141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4937785" y="3466365"/>
            <a:ext cx="3712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Why a Fixed Window?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4937785" y="3740685"/>
            <a:ext cx="3712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Each well started producing at a different time. A per-well rolling window would give some wells 2 years of history and others 5 — making them incomparable. The fixed window puts all 71 training wells on equal footing so the model learns fairly.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754905" y="5002557"/>
            <a:ext cx="4023300" cy="777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4892065" y="5039133"/>
            <a:ext cx="3749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log1p Transform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892065" y="5276877"/>
            <a:ext cx="3749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Production is heavy-tailed. All models use TransformedTargetRegressor with log1p to reduce heteroscedasticity and boost accuracy.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/>
          <p:nvPr/>
        </p:nvSpPr>
        <p:spPr>
          <a:xfrm>
            <a:off x="5690942" y="2778151"/>
            <a:ext cx="1451100" cy="889500"/>
          </a:xfrm>
          <a:prstGeom prst="rect">
            <a:avLst/>
          </a:prstGeom>
          <a:solidFill>
            <a:srgbClr val="F5F2EE"/>
          </a:solidFill>
          <a:ln cap="flat" cmpd="sng" w="130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2001956" y="2778151"/>
            <a:ext cx="1451100" cy="889500"/>
          </a:xfrm>
          <a:prstGeom prst="rect">
            <a:avLst/>
          </a:prstGeom>
          <a:solidFill>
            <a:srgbClr val="F5F2EE"/>
          </a:solidFill>
          <a:ln cap="flat" cmpd="sng" w="130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157463" y="2778151"/>
            <a:ext cx="1451100" cy="889500"/>
          </a:xfrm>
          <a:prstGeom prst="rect">
            <a:avLst/>
          </a:prstGeom>
          <a:solidFill>
            <a:srgbClr val="F5F2EE"/>
          </a:solidFill>
          <a:ln cap="flat" cmpd="sng" w="130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3846449" y="2778151"/>
            <a:ext cx="1451100" cy="889500"/>
          </a:xfrm>
          <a:prstGeom prst="rect">
            <a:avLst/>
          </a:prstGeom>
          <a:solidFill>
            <a:srgbClr val="F5F2EE"/>
          </a:solidFill>
          <a:ln cap="flat" cmpd="sng" w="130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457076" y="1954212"/>
            <a:ext cx="8426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3625" spcFirstLastPara="1" rIns="93625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67"/>
              <a:buFont typeface="Calibri"/>
              <a:buNone/>
            </a:pPr>
            <a:r>
              <a:rPr b="1" i="0" lang="en-US" sz="286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Workflow Overview</a:t>
            </a:r>
            <a:endParaRPr b="0" i="0" sz="2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663060" y="2534715"/>
            <a:ext cx="393300" cy="3933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555550" y="3016825"/>
            <a:ext cx="664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i="0" lang="en-US" sz="1121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i="0" lang="en-US" sz="1121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Loading</a:t>
            </a:r>
            <a:endParaRPr b="0" i="0" sz="112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1655528" y="2984136"/>
            <a:ext cx="28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34"/>
              <a:buFont typeface="Calibri"/>
              <a:buNone/>
            </a:pPr>
            <a:r>
              <a:rPr b="0" i="0" lang="en-US" sz="1433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157463" y="3779986"/>
            <a:ext cx="1451100" cy="1123800"/>
          </a:xfrm>
          <a:prstGeom prst="rect">
            <a:avLst/>
          </a:prstGeom>
          <a:solidFill>
            <a:srgbClr val="FFFFFF"/>
          </a:solidFill>
          <a:ln cap="flat" cmpd="sng" w="9750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223003" y="3808075"/>
            <a:ext cx="13203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71 production wells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12 preproduction wells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Production history CSV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200×200 sand map grid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2507553" y="2534715"/>
            <a:ext cx="393300" cy="3933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3500021" y="2984136"/>
            <a:ext cx="28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34"/>
              <a:buFont typeface="Calibri"/>
              <a:buNone/>
            </a:pPr>
            <a:r>
              <a:rPr b="0" i="0" lang="en-US" sz="1433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2001956" y="3779986"/>
            <a:ext cx="1451100" cy="1123800"/>
          </a:xfrm>
          <a:prstGeom prst="rect">
            <a:avLst/>
          </a:prstGeom>
          <a:solidFill>
            <a:srgbClr val="FFFFFF"/>
          </a:solidFill>
          <a:ln cap="flat" cmpd="sng" w="9750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2067496" y="3808075"/>
            <a:ext cx="13203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lang="en-US" sz="1037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50 features</a:t>
            </a:r>
            <a:endParaRPr sz="1037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Geology-only, no leakage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4352046" y="2534715"/>
            <a:ext cx="393300" cy="3933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5344514" y="2984136"/>
            <a:ext cx="28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34"/>
              <a:buFont typeface="Calibri"/>
              <a:buNone/>
            </a:pPr>
            <a:r>
              <a:rPr b="0" i="0" lang="en-US" sz="1433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3846449" y="3779986"/>
            <a:ext cx="1451100" cy="1123800"/>
          </a:xfrm>
          <a:prstGeom prst="rect">
            <a:avLst/>
          </a:prstGeom>
          <a:solidFill>
            <a:srgbClr val="FFFFFF"/>
          </a:solidFill>
          <a:ln cap="flat" cmpd="sng" w="9750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3911989" y="3808075"/>
            <a:ext cx="13203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Fixed 36-month window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Dec 2022 → Nov 2025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Incremental cum. oil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log1p transform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6196539" y="2534715"/>
            <a:ext cx="393300" cy="3933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7189007" y="2984136"/>
            <a:ext cx="28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34"/>
              <a:buFont typeface="Calibri"/>
              <a:buNone/>
            </a:pPr>
            <a:r>
              <a:rPr b="0" i="0" lang="en-US" sz="1433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5690942" y="3779986"/>
            <a:ext cx="1451100" cy="1123800"/>
          </a:xfrm>
          <a:prstGeom prst="rect">
            <a:avLst/>
          </a:prstGeom>
          <a:solidFill>
            <a:srgbClr val="FFFFFF"/>
          </a:solidFill>
          <a:ln cap="flat" cmpd="sng" w="9750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5756482" y="3808075"/>
            <a:ext cx="13203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5-fold GroupKFold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 models compared,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BayesRidge </a:t>
            </a:r>
            <a:r>
              <a:rPr lang="en-US" sz="1037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 Stack + ET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R² = 0.</a:t>
            </a:r>
            <a:r>
              <a:rPr lang="en-US" sz="1037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(OOF)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8041032" y="2534715"/>
            <a:ext cx="393300" cy="3933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7535435" y="2778151"/>
            <a:ext cx="1451100" cy="889500"/>
          </a:xfrm>
          <a:prstGeom prst="rect">
            <a:avLst/>
          </a:prstGeom>
          <a:solidFill>
            <a:srgbClr val="BF5700"/>
          </a:solidFill>
          <a:ln cap="flat" cmpd="sng" w="2600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7535435" y="3779986"/>
            <a:ext cx="1451100" cy="1123800"/>
          </a:xfrm>
          <a:prstGeom prst="rect">
            <a:avLst/>
          </a:prstGeom>
          <a:solidFill>
            <a:srgbClr val="FFFFFF"/>
          </a:solidFill>
          <a:ln cap="flat" cmpd="sng" w="9750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7600975" y="3808075"/>
            <a:ext cx="13203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Stability-weighted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ensemble R² = 0.</a:t>
            </a:r>
            <a:r>
              <a:rPr lang="en-US" sz="1037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100 bootstrap</a:t>
            </a: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realizations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37"/>
              <a:buFont typeface="Calibri"/>
              <a:buNone/>
            </a:pPr>
            <a:r>
              <a:rPr b="0" i="0" lang="en-US" sz="1037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Heteroscedastic noise</a:t>
            </a:r>
            <a:endParaRPr b="0" i="0" sz="10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63060" y="2534715"/>
            <a:ext cx="39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4"/>
              <a:buFont typeface="Calibri"/>
              <a:buNone/>
            </a:pPr>
            <a:r>
              <a:rPr b="1" i="0" lang="en-US" sz="14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2507553" y="2534715"/>
            <a:ext cx="39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4"/>
              <a:buFont typeface="Calibri"/>
              <a:buNone/>
            </a:pPr>
            <a:r>
              <a:rPr b="1" i="0" lang="en-US" sz="14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4352046" y="2534715"/>
            <a:ext cx="39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4"/>
              <a:buFont typeface="Calibri"/>
              <a:buNone/>
            </a:pPr>
            <a:r>
              <a:rPr b="1" i="0" lang="en-US" sz="14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196539" y="2534715"/>
            <a:ext cx="39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4"/>
              <a:buFont typeface="Calibri"/>
              <a:buNone/>
            </a:pPr>
            <a:r>
              <a:rPr b="1" i="0" lang="en-US" sz="14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8041032" y="2534715"/>
            <a:ext cx="393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4"/>
              <a:buFont typeface="Calibri"/>
              <a:buNone/>
            </a:pPr>
            <a:r>
              <a:rPr b="1" i="0" lang="en-US" sz="14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2338113" y="3068400"/>
            <a:ext cx="778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lang="en-US" sz="1121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Feature Submission</a:t>
            </a:r>
            <a:endParaRPr b="1" sz="1121">
              <a:solidFill>
                <a:srgbClr val="BF5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4163925" y="3068400"/>
            <a:ext cx="742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lang="en-US" sz="1121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Target Engineering</a:t>
            </a:r>
            <a:endParaRPr b="1" sz="1121">
              <a:solidFill>
                <a:srgbClr val="BF5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075063" y="3068400"/>
            <a:ext cx="664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lang="en-US" sz="1121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1" sz="1121">
              <a:solidFill>
                <a:srgbClr val="BF5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7852925" y="3068400"/>
            <a:ext cx="852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75" lIns="775" spcFirstLastPara="1" rIns="775" wrap="square" tIns="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922"/>
              <a:buFont typeface="Calibri"/>
              <a:buNone/>
            </a:pPr>
            <a:r>
              <a:rPr b="1" lang="en-US" sz="112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Ensemble + Uncertainty</a:t>
            </a:r>
            <a:endParaRPr b="1" sz="112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/>
          <p:nvPr/>
        </p:nvSpPr>
        <p:spPr>
          <a:xfrm>
            <a:off x="411488" y="1335033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20047" y="1819665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5-Fold GroupKFold OOF Comparison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320047" y="2066553"/>
            <a:ext cx="4297800" cy="3108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457208" y="2066553"/>
            <a:ext cx="2011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2468888" y="2066553"/>
            <a:ext cx="100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3474728" y="2066553"/>
            <a:ext cx="731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320047" y="2377449"/>
            <a:ext cx="4297800" cy="329100"/>
          </a:xfrm>
          <a:prstGeom prst="rect">
            <a:avLst/>
          </a:prstGeom>
          <a:solidFill>
            <a:srgbClr val="FFF3E0"/>
          </a:solidFill>
          <a:ln cap="flat" cmpd="sng" w="15225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457208" y="2377449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BayesRidge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2468888" y="2377449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r>
              <a:rPr b="1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3474728" y="2377449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9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206248" y="2377449"/>
            <a:ext cx="41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✓ Best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320047" y="2724921"/>
            <a:ext cx="4297800" cy="3291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457208" y="2724921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ExtraTrees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2468888" y="2724921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2.82M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3474728" y="2724921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0.870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320047" y="3072393"/>
            <a:ext cx="429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457208" y="3072393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RandomForest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2468888" y="3072393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3.18M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474728" y="3072393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0.834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320047" y="3419865"/>
            <a:ext cx="4297800" cy="3291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457208" y="3419865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2468888" y="3419865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4.30M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3474728" y="3419865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0.697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320047" y="3767337"/>
            <a:ext cx="429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457208" y="3767337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HGBR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2468888" y="3767337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4.88M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3474728" y="3767337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0.610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20047" y="4151385"/>
            <a:ext cx="4297800" cy="13716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320048" y="4151385"/>
            <a:ext cx="63900" cy="13716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502928" y="4215393"/>
            <a:ext cx="398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Why BayesRidge?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02928" y="4462281"/>
            <a:ext cx="3986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With only ~14 wells per GroupKFold, strong regularization generalizes far better than complex boosters. BayesRidge is linear in log-space (after log1p), which is exactly the right inductive bias for production data.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4800608" y="5047497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OOF Predicted vs Actual — ensemble across all 5 folds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3" title="model_visua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950" y="2322200"/>
            <a:ext cx="2642601" cy="264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/>
          <p:nvPr/>
        </p:nvSpPr>
        <p:spPr>
          <a:xfrm>
            <a:off x="457188" y="1215208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Ensemble &amp; Residual Analysis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20048" y="1899865"/>
            <a:ext cx="2057400" cy="10974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20048" y="1963873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320048" y="2567377"/>
            <a:ext cx="205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R²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2514607" y="1899865"/>
            <a:ext cx="2103000" cy="1097400"/>
          </a:xfrm>
          <a:prstGeom prst="rect">
            <a:avLst/>
          </a:prstGeom>
          <a:solidFill>
            <a:srgbClr val="F5F2EE"/>
          </a:solidFill>
          <a:ln cap="flat" cmpd="sng" w="1015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2514607" y="1963873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r>
              <a:rPr b="1" i="0" lang="en-US" sz="32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2514607" y="2567377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Ensemble RMSE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320047" y="3180025"/>
            <a:ext cx="4297800" cy="13716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20048" y="3180025"/>
            <a:ext cx="63900" cy="13716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502928" y="3244033"/>
            <a:ext cx="398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Stability-Weighted Ensemble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502928" y="3481777"/>
            <a:ext cx="3986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Weight = 1 / (mean_RMSE + std_RMSE), normalized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502928" y="3682945"/>
            <a:ext cx="39867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94367" y="3682945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Tuned BayesRidge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331728" y="3682945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33.8%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2971807" y="3682945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RMSE </a:t>
            </a:r>
            <a:r>
              <a:rPr lang="en-US" sz="750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1.92 </a:t>
            </a: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02928" y="3938977"/>
            <a:ext cx="39867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594367" y="3938977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ExtraTrees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2331728" y="3938977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33.8%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2971807" y="3938977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RMSE </a:t>
            </a:r>
            <a:r>
              <a:rPr lang="en-US" sz="750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1.93 </a:t>
            </a: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502928" y="4195009"/>
            <a:ext cx="39867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594367" y="4195009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2331728" y="4195009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32.4%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971807" y="4195009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RMSE </a:t>
            </a:r>
            <a:r>
              <a:rPr lang="en-US" sz="750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2.014 </a:t>
            </a:r>
            <a:r>
              <a:rPr b="0" i="0" lang="en-US" sz="7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320047" y="4734505"/>
            <a:ext cx="42978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320048" y="4734505"/>
            <a:ext cx="63900" cy="8229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502928" y="4780225"/>
            <a:ext cx="398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Residual Diagnostic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502928" y="4999681"/>
            <a:ext cx="398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Residuals are roughly homoscedastic across the predicted range — no systematic bias. Slight fan-out at high values motivates the heteroscedastic bootstrap on the next slide.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4800608" y="4598547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b="0" i="1" lang="en-US" sz="1050" u="none" cap="none" strike="noStrike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Residuals vs OOF Predicted — no systematic bias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4" title="3a_residuals_vs_p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895" y="2266820"/>
            <a:ext cx="3622717" cy="21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411488" y="132137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Uncertainty Quantification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320047" y="1833435"/>
            <a:ext cx="4297800" cy="14172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20048" y="1833435"/>
            <a:ext cx="63900" cy="14172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457208" y="1924875"/>
            <a:ext cx="347400" cy="3474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457208" y="1924875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914408" y="1943163"/>
            <a:ext cx="354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Model Uncertainty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02928" y="2290635"/>
            <a:ext cx="3986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20"/>
              <a:buFont typeface="Calibri"/>
              <a:buNone/>
            </a:pPr>
            <a:r>
              <a:rPr b="0" i="0" lang="en-US" sz="102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Resample training wells with replacement → retrain the full stability-weighted ensemble → repeat 100 times. Each bootstrap realization captures how much the prediction would shift if we'd seen a slightly different training set.</a:t>
            </a:r>
            <a:endParaRPr b="0" i="0" sz="10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20047" y="3433635"/>
            <a:ext cx="4297800" cy="14172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20048" y="3433635"/>
            <a:ext cx="63900" cy="14172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8" y="3525075"/>
            <a:ext cx="347400" cy="3474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57208" y="3525075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914408" y="3543363"/>
            <a:ext cx="354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Residual Scaling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502928" y="3890835"/>
            <a:ext cx="3986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20"/>
              <a:buFont typeface="Calibri"/>
              <a:buNone/>
            </a:pPr>
            <a:r>
              <a:rPr b="0" i="0" lang="en-US" sz="102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 separate HGBR model predicts |residual| as a function of the predicted value. This captures heteroscedastic noise: high-production wells naturally have larger absolute errors. Each bootstrap sample's residual is scaled before computing P10/P90.</a:t>
            </a:r>
            <a:endParaRPr b="0" i="0" sz="10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320047" y="5033835"/>
            <a:ext cx="4297800" cy="5028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457208" y="5033835"/>
            <a:ext cx="402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bootstrap realizations  →  P10 / P90 intervals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4800608" y="503383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068"/>
              </a:buClr>
              <a:buSzPts val="750"/>
              <a:buFont typeface="Calibri"/>
              <a:buNone/>
            </a:pPr>
            <a:r>
              <a:rPr i="1" lang="en-US" sz="750">
                <a:solidFill>
                  <a:srgbClr val="7A7068"/>
                </a:solidFill>
                <a:latin typeface="Calibri"/>
                <a:ea typeface="Calibri"/>
                <a:cs typeface="Calibri"/>
                <a:sym typeface="Calibri"/>
              </a:rPr>
              <a:t>Prediction confidence interval p10-p90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5" title="4_uncertainty_bou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400" y="2918001"/>
            <a:ext cx="3865702" cy="193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457188" y="980633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Predictions: Wells 72–83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274378" y="4782365"/>
            <a:ext cx="2788800" cy="7497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274378" y="4782365"/>
            <a:ext cx="63900" cy="749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438969" y="4809797"/>
            <a:ext cx="248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Mean Prediction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438969" y="5001821"/>
            <a:ext cx="24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68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Point estimate from the full stability-weighted ensemble trained on all 71 wells.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3200457" y="4782365"/>
            <a:ext cx="2788800" cy="7497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3200458" y="4782365"/>
            <a:ext cx="63900" cy="7497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3365050" y="4809797"/>
            <a:ext cx="248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P10 / P90 Bands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365050" y="5001821"/>
            <a:ext cx="24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68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100 heteroscedastic bootstrap realizations. Wider bands on high-production wells reflect natural residual scaling.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126538" y="4782365"/>
            <a:ext cx="2788800" cy="7497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6126538" y="4782365"/>
            <a:ext cx="63900" cy="7497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6291130" y="4809797"/>
            <a:ext cx="248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Submission Ready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291130" y="5001821"/>
            <a:ext cx="24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68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12 predictions for wells 72–83 exported to solution.csv with the required format.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6" title="3b_error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050" y="1478124"/>
            <a:ext cx="5183601" cy="311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/>
          <p:nvPr/>
        </p:nvSpPr>
        <p:spPr>
          <a:xfrm>
            <a:off x="457250" y="1321308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Lessons &amp; Future Work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320090" y="1869948"/>
            <a:ext cx="8503800" cy="11430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320090" y="1869948"/>
            <a:ext cx="73200" cy="1143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530402" y="1979676"/>
            <a:ext cx="384000" cy="3840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530402" y="197967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079042" y="1961388"/>
            <a:ext cx="7589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079045" y="2281334"/>
            <a:ext cx="770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autocorrelation is the dominant signal in this dataset. Geology-only kNN features captured reservoir context without any production leakage — zero leakage by construction. BayesRidge's strong regularization beat complex tree ensembles on small-sample GroupKFold because the signal is cleaner in log-space.</a:t>
            </a:r>
            <a:endParaRPr b="0" i="0" sz="10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320090" y="3131820"/>
            <a:ext cx="8503800" cy="11430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320090" y="3131820"/>
            <a:ext cx="73200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530402" y="3241548"/>
            <a:ext cx="384000" cy="3840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530402" y="324154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079042" y="3223260"/>
            <a:ext cx="7589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What Worked Well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079045" y="3515868"/>
            <a:ext cx="770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Stability-weighting naturally downweighted unstable models without manual tuning. The heteroscedastic bootstrap gave calibrated P10/P90 intervals that scale with predicted production level — exactly what you'd expect physically. The log1p transform alone lifted R² significantly.</a:t>
            </a:r>
            <a:endParaRPr b="0" i="0" sz="10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320090" y="4393692"/>
            <a:ext cx="8503800" cy="1143000"/>
          </a:xfrm>
          <a:prstGeom prst="rect">
            <a:avLst/>
          </a:prstGeom>
          <a:solidFill>
            <a:srgbClr val="F5F2EE"/>
          </a:solidFill>
          <a:ln cap="flat" cmpd="sng" w="9525">
            <a:solidFill>
              <a:srgbClr val="E8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320090" y="4393692"/>
            <a:ext cx="73200" cy="1143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530402" y="4503420"/>
            <a:ext cx="384000" cy="384000"/>
          </a:xfrm>
          <a:prstGeom prst="ellipse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530402" y="450342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079042" y="4485132"/>
            <a:ext cx="7589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F5700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079045" y="4777740"/>
            <a:ext cx="770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Kriging interpolation for spatial features instead of simple kNN averaging. Spatially-aware CV splits to prevent geographic leakage between folds. Bayesian optimization for hyperparameters across the full ensemble. Physics-informed decline-curve priors to regularize predictions for wells in depleted reservoirs.</a:t>
            </a:r>
            <a:endParaRPr b="0" i="0" sz="10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GE PPT Presentation">
  <a:themeElements>
    <a:clrScheme name="Custom 5">
      <a:dk1>
        <a:srgbClr val="000000"/>
      </a:dk1>
      <a:lt1>
        <a:srgbClr val="FFFFFF"/>
      </a:lt1>
      <a:dk2>
        <a:srgbClr val="3A3E40"/>
      </a:dk2>
      <a:lt2>
        <a:srgbClr val="595A5B"/>
      </a:lt2>
      <a:accent1>
        <a:srgbClr val="F2A900"/>
      </a:accent1>
      <a:accent2>
        <a:srgbClr val="BF5700"/>
      </a:accent2>
      <a:accent3>
        <a:srgbClr val="005E86"/>
      </a:accent3>
      <a:accent4>
        <a:srgbClr val="43695B"/>
      </a:accent4>
      <a:accent5>
        <a:srgbClr val="333F48"/>
      </a:accent5>
      <a:accent6>
        <a:srgbClr val="C1B688"/>
      </a:accent6>
      <a:hlink>
        <a:srgbClr val="003E5C"/>
      </a:hlink>
      <a:folHlink>
        <a:srgbClr val="787A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